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Montserrat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  <p:embeddedFont>
      <p:font typeface="DM Serif Display"/>
      <p:regular r:id="rId40"/>
      <p: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172898-9CDB-4496-8EE0-1D73BA0A09B7}">
  <a:tblStyle styleId="{DD172898-9CDB-4496-8EE0-1D73BA0A09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erifDisplay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regular.fntdata"/><Relationship Id="rId41" Type="http://schemas.openxmlformats.org/officeDocument/2006/relationships/font" Target="fonts/DMSerifDisplay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DMSans-bold.fntdata"/><Relationship Id="rId14" Type="http://schemas.openxmlformats.org/officeDocument/2006/relationships/slide" Target="slides/slide8.xml"/><Relationship Id="rId36" Type="http://schemas.openxmlformats.org/officeDocument/2006/relationships/font" Target="fonts/DMSans-regular.fntdata"/><Relationship Id="rId17" Type="http://schemas.openxmlformats.org/officeDocument/2006/relationships/slide" Target="slides/slide11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DM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63082ea0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63082ea0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0a20832277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0a2083227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2f11d87f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2f11d87f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63082ea0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63082ea0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63082ea0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b63082ea0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bcf855234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cf855234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bcf85523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bcf85523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f2f11d87f2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f2f11d87f2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f2f11d87f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f2f11d87f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2f11d87f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f2f11d87f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f2f11d87f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f2f11d87f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63082ea0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63082ea0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63082ea0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63082ea0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cfddd68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cfddd68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63082ea0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63082ea0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63082ea0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63082ea0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63082ea0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63082ea0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63082ea0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63082ea0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f2f11d87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f2f11d87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2f11d87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f2f11d87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2f11d87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f2f11d87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5f6dc493a2d3724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5f6dc493a2d3724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5f6dc493a2d372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h5f6dc493a2d372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HOW TO USE THIS TEMPLATE (delete these notes when done)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1. Duplicate this slide (with diagram) or the next one (no diagram) for each project.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2. Logo: paste the project logo over the dashed box. Keep it within 1.35 x 0.62 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3. Header (slide title): one line, about 60 characters. It shows in outline view.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4. Overview: 2-3 sentences, about 300 characters.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5. Key capabilities &amp; use cases: 5-6 one-line bullets total.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6. Image: crop to about 5:2 (4 x 1.55 in), place over the grey box, then delete the box.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7. Adopter logos: up to 8 (with diagram) or 9 (no diagram). Delete unused tiles.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8. Learn more: always the project's LF Energy page (lfenergy.org/projects/...). Add the hyperlink via Insert &gt; Link.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5f6dc493a2d3724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h5f6dc493a2d3724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01da415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d01da415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" type="title">
  <p:cSld name="TITLE">
    <p:bg>
      <p:bgPr>
        <a:solidFill>
          <a:schemeClr val="accen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fenergy_bg_090226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-5700" y="0"/>
            <a:ext cx="9181500" cy="5103600"/>
          </a:xfrm>
          <a:prstGeom prst="rect">
            <a:avLst/>
          </a:prstGeom>
          <a:solidFill>
            <a:srgbClr val="1E2530">
              <a:alpha val="7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15" name="Google Shape;15;p2" title="lfenergy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50" y="778806"/>
            <a:ext cx="2293924" cy="3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">
  <p:cSld name="TITLE_2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19" name="Google Shape;19;p3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550" y="778806"/>
            <a:ext cx="2293924" cy="3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Image">
  <p:cSld name="TITLE_1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 title="lfenergy_bg_090226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-5700" y="0"/>
            <a:ext cx="9181500" cy="5103600"/>
          </a:xfrm>
          <a:prstGeom prst="rect">
            <a:avLst/>
          </a:prstGeom>
          <a:solidFill>
            <a:srgbClr val="1E2530">
              <a:alpha val="7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2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3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4" title="lfenergy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50" y="778806"/>
            <a:ext cx="2293924" cy="3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Image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3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"/>
              <a:buNone/>
              <a:defRPr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Font typeface="Open Sans"/>
              <a:buNone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4" name="Google Shape;34;p5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" name="Google Shape;35;p5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550" y="778806"/>
            <a:ext cx="2293924" cy="3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Small Image">
  <p:cSld name="TITLE_1_1">
    <p:bg>
      <p:bgPr>
        <a:solidFill>
          <a:schemeClr val="accen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" name="Google Shape;41;p6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">
  <p:cSld name="CUSTOM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7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7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7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Small Image 1">
  <p:cSld name="TITLE_1_1_1">
    <p:bg>
      <p:bgPr>
        <a:solidFill>
          <a:schemeClr val="accen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8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" name="Google Shape;52;p8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 1">
  <p:cSld name="CUSTOM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" name="Google Shape;56;p9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ark" type="secHead">
  <p:cSld name="SECTION_HEADER">
    <p:bg>
      <p:bgPr>
        <a:solidFill>
          <a:schemeClr val="accen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0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Dark">
  <p:cSld name="SECTION_HEADER_3">
    <p:bg>
      <p:bgPr>
        <a:solidFill>
          <a:schemeClr val="accen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1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1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11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Light">
  <p:cSld name="SECTION_HEADER_3_1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None/>
              <a:defRPr sz="2700">
                <a:solidFill>
                  <a:srgbClr val="3D3E5B"/>
                </a:solidFill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12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12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12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2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12" title="lfenergy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ight">
  <p:cSld name="SECTION_HEADER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13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Point">
  <p:cSld name="SECTION_HEADER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311700" y="1121550"/>
            <a:ext cx="4022700" cy="290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4FF"/>
              </a:solidFill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867700" y="1152475"/>
            <a:ext cx="396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4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15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Heavy Content">
  <p:cSld name="TITLE_AND_BODY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33225" y="845016"/>
            <a:ext cx="86874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6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Heavy Content">
  <p:cSld name="TITLE_AND_BODY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239025" y="845025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4676250" y="852113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2" name="Google Shape;112;p17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Google Shape;113;p17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8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Image">
  <p:cSld name="TITLE_AND_TWO_COLUMNS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9"/>
          <p:cNvSpPr/>
          <p:nvPr>
            <p:ph idx="2" type="pic"/>
          </p:nvPr>
        </p:nvSpPr>
        <p:spPr>
          <a:xfrm>
            <a:off x="5188325" y="1165975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9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19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0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749853"/>
            <a:ext cx="1138150" cy="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1">
  <p:cSld name="TITLE_2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22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2213" y="2259992"/>
            <a:ext cx="4079576" cy="6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1 1">
  <p:cSld name="TITLE_2_1_1"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-5700" y="0"/>
            <a:ext cx="9155400" cy="6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" name="Google Shape;140;p23" title="lfenergy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2213" y="2259992"/>
            <a:ext cx="4079576" cy="6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DM Serif Display"/>
              <a:buNone/>
              <a:defRPr sz="2800">
                <a:solidFill>
                  <a:srgbClr val="3D3E5B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"/>
              <a:buChar char="●"/>
              <a:defRPr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TEMPLATE.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MAKE A COPY.</a:t>
            </a:r>
            <a:endParaRPr/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6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 txBox="1"/>
          <p:nvPr>
            <p:ph idx="2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/>
          <p:nvPr>
            <p:ph idx="3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>
            <p:ph idx="3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</p:spPr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</p:spPr>
      </p:sp>
      <p:sp>
        <p:nvSpPr>
          <p:cNvPr id="188" name="Google Shape;188;p3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1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</p:spPr>
      </p:sp>
      <p:sp>
        <p:nvSpPr>
          <p:cNvPr id="196" name="Google Shape;196;p31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</p:spPr>
      </p:sp>
      <p:sp>
        <p:nvSpPr>
          <p:cNvPr id="197" name="Google Shape;197;p31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</p:spPr>
      </p:sp>
      <p:sp>
        <p:nvSpPr>
          <p:cNvPr id="198" name="Google Shape;198;p31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2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</p:spPr>
      </p:sp>
      <p:sp>
        <p:nvSpPr>
          <p:cNvPr id="206" name="Google Shape;206;p32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</p:spPr>
      </p:sp>
      <p:sp>
        <p:nvSpPr>
          <p:cNvPr id="207" name="Google Shape;207;p32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</p:spPr>
      </p:sp>
      <p:sp>
        <p:nvSpPr>
          <p:cNvPr id="208" name="Google Shape;208;p32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9" name="Google Shape;239;p37"/>
          <p:cNvGraphicFramePr/>
          <p:nvPr/>
        </p:nvGraphicFramePr>
        <p:xfrm>
          <a:off x="311700" y="126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{DD172898-9CDB-4496-8EE0-1D73BA0A09B7}</a:tableStyleId>
              </a:tblPr>
              <a:tblGrid>
                <a:gridCol w="740350"/>
                <a:gridCol w="5729675"/>
                <a:gridCol w="2050575"/>
              </a:tblGrid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Time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Topic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Lead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5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Heavy Variants</a:t>
            </a:r>
            <a:endParaRPr/>
          </a:p>
        </p:txBody>
      </p:sp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233225" y="845016"/>
            <a:ext cx="86874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  <p:sp>
        <p:nvSpPr>
          <p:cNvPr id="279" name="Google Shape;27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4"/>
          <p:cNvSpPr txBox="1"/>
          <p:nvPr>
            <p:ph idx="1" type="body"/>
          </p:nvPr>
        </p:nvSpPr>
        <p:spPr>
          <a:xfrm>
            <a:off x="239025" y="845025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4"/>
          <p:cNvSpPr txBox="1"/>
          <p:nvPr>
            <p:ph idx="2" type="body"/>
          </p:nvPr>
        </p:nvSpPr>
        <p:spPr>
          <a:xfrm>
            <a:off x="4676250" y="852113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Overviews</a:t>
            </a:r>
            <a:endParaRPr/>
          </a:p>
        </p:txBody>
      </p:sp>
      <p:sp>
        <p:nvSpPr>
          <p:cNvPr id="293" name="Google Shape;29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/>
          <p:nvPr/>
        </p:nvSpPr>
        <p:spPr>
          <a:xfrm>
            <a:off x="320040" y="237744"/>
            <a:ext cx="1234500" cy="567000"/>
          </a:xfrm>
          <a:prstGeom prst="roundRect">
            <a:avLst>
              <a:gd fmla="val 8000" name="adj"/>
            </a:avLst>
          </a:prstGeom>
          <a:noFill/>
          <a:ln cap="flat" cmpd="sng" w="9525">
            <a:solidFill>
              <a:srgbClr val="A8B2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PROJECT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299" name="Google Shape;299;p46"/>
          <p:cNvSpPr txBox="1"/>
          <p:nvPr>
            <p:ph type="title"/>
          </p:nvPr>
        </p:nvSpPr>
        <p:spPr>
          <a:xfrm>
            <a:off x="1737360" y="237744"/>
            <a:ext cx="708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1E253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One-line value statement: what it does, for whom</a:t>
            </a:r>
            <a:endParaRPr/>
          </a:p>
        </p:txBody>
      </p:sp>
      <p:sp>
        <p:nvSpPr>
          <p:cNvPr id="300" name="Google Shape;300;p46"/>
          <p:cNvSpPr txBox="1"/>
          <p:nvPr/>
        </p:nvSpPr>
        <p:spPr>
          <a:xfrm>
            <a:off x="320040" y="1078992"/>
            <a:ext cx="452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endParaRPr/>
          </a:p>
        </p:txBody>
      </p:sp>
      <p:sp>
        <p:nvSpPr>
          <p:cNvPr id="301" name="Google Shape;301;p46"/>
          <p:cNvSpPr txBox="1"/>
          <p:nvPr/>
        </p:nvSpPr>
        <p:spPr>
          <a:xfrm>
            <a:off x="320040" y="1316736"/>
            <a:ext cx="4526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Two to three sentences that expand on the tagline: the problem the project solves, how it works at a high level, and who it is built for. Keep to about 300 characters.</a:t>
            </a:r>
            <a:endParaRPr/>
          </a:p>
        </p:txBody>
      </p:sp>
      <p:sp>
        <p:nvSpPr>
          <p:cNvPr id="302" name="Google Shape;302;p46"/>
          <p:cNvSpPr txBox="1"/>
          <p:nvPr/>
        </p:nvSpPr>
        <p:spPr>
          <a:xfrm>
            <a:off x="320040" y="2103120"/>
            <a:ext cx="452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KEY CAPABILITIES &amp; USE CASES</a:t>
            </a:r>
            <a:endParaRPr/>
          </a:p>
        </p:txBody>
      </p:sp>
      <p:sp>
        <p:nvSpPr>
          <p:cNvPr id="303" name="Google Shape;303;p46"/>
          <p:cNvSpPr txBox="1"/>
          <p:nvPr/>
        </p:nvSpPr>
        <p:spPr>
          <a:xfrm>
            <a:off x="320040" y="2340864"/>
            <a:ext cx="4526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Capability: a concrete feature, stated as an outcome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Capability: interoperability, standards, or integrations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Capability: deployment model, scale, or performance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Use case: who uses it, and for what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Use case: a second audience or grid domain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Use case: a real deployment is most persuasive</a:t>
            </a:r>
            <a:endParaRPr/>
          </a:p>
        </p:txBody>
      </p:sp>
      <p:sp>
        <p:nvSpPr>
          <p:cNvPr id="304" name="Google Shape;304;p46"/>
          <p:cNvSpPr/>
          <p:nvPr/>
        </p:nvSpPr>
        <p:spPr>
          <a:xfrm>
            <a:off x="5166360" y="1078992"/>
            <a:ext cx="3657600" cy="1417200"/>
          </a:xfrm>
          <a:prstGeom prst="roundRect">
            <a:avLst>
              <a:gd fmla="val 6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4E5F79"/>
                </a:solidFill>
                <a:latin typeface="DM Sans"/>
                <a:ea typeface="DM Sans"/>
                <a:cs typeface="DM Sans"/>
                <a:sym typeface="DM Sans"/>
              </a:rPr>
              <a:t>Architecture diagram, screenshot, or photo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Replace this box with an image cropped to about 5 : 2.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No image? Use the next slide's layout instead.</a:t>
            </a:r>
            <a:endParaRPr/>
          </a:p>
        </p:txBody>
      </p:sp>
      <p:sp>
        <p:nvSpPr>
          <p:cNvPr id="305" name="Google Shape;305;p46"/>
          <p:cNvSpPr txBox="1"/>
          <p:nvPr/>
        </p:nvSpPr>
        <p:spPr>
          <a:xfrm>
            <a:off x="5166360" y="2615184"/>
            <a:ext cx="365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KEY ADOPTERS &amp; CONTRIBUTORS</a:t>
            </a:r>
            <a:endParaRPr/>
          </a:p>
        </p:txBody>
      </p:sp>
      <p:sp>
        <p:nvSpPr>
          <p:cNvPr id="306" name="Google Shape;306;p46"/>
          <p:cNvSpPr/>
          <p:nvPr/>
        </p:nvSpPr>
        <p:spPr>
          <a:xfrm>
            <a:off x="5166360" y="2862072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07" name="Google Shape;307;p46"/>
          <p:cNvSpPr/>
          <p:nvPr/>
        </p:nvSpPr>
        <p:spPr>
          <a:xfrm>
            <a:off x="6103620" y="2862072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08" name="Google Shape;308;p46"/>
          <p:cNvSpPr/>
          <p:nvPr/>
        </p:nvSpPr>
        <p:spPr>
          <a:xfrm>
            <a:off x="7040880" y="2862072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09" name="Google Shape;309;p46"/>
          <p:cNvSpPr/>
          <p:nvPr/>
        </p:nvSpPr>
        <p:spPr>
          <a:xfrm>
            <a:off x="7978140" y="2862072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10" name="Google Shape;310;p46"/>
          <p:cNvSpPr/>
          <p:nvPr/>
        </p:nvSpPr>
        <p:spPr>
          <a:xfrm>
            <a:off x="5166360" y="3282696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11" name="Google Shape;311;p46"/>
          <p:cNvSpPr/>
          <p:nvPr/>
        </p:nvSpPr>
        <p:spPr>
          <a:xfrm>
            <a:off x="6103620" y="3282696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12" name="Google Shape;312;p46"/>
          <p:cNvSpPr/>
          <p:nvPr/>
        </p:nvSpPr>
        <p:spPr>
          <a:xfrm>
            <a:off x="7040880" y="3282696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13" name="Google Shape;313;p46"/>
          <p:cNvSpPr/>
          <p:nvPr/>
        </p:nvSpPr>
        <p:spPr>
          <a:xfrm>
            <a:off x="7978140" y="3282696"/>
            <a:ext cx="845700" cy="329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14" name="Google Shape;314;p46"/>
          <p:cNvSpPr/>
          <p:nvPr/>
        </p:nvSpPr>
        <p:spPr>
          <a:xfrm>
            <a:off x="5166360" y="3749040"/>
            <a:ext cx="3657600" cy="384000"/>
          </a:xfrm>
          <a:prstGeom prst="roundRect">
            <a:avLst>
              <a:gd fmla="val 15000" name="adj"/>
            </a:avLst>
          </a:prstGeom>
          <a:solidFill>
            <a:srgbClr val="1E2530"/>
          </a:solidFill>
          <a:ln>
            <a:noFill/>
          </a:ln>
        </p:spPr>
        <p:txBody>
          <a:bodyPr anchorCtr="0" anchor="ctr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1D099"/>
                </a:solidFill>
                <a:latin typeface="DM Sans"/>
                <a:ea typeface="DM Sans"/>
                <a:cs typeface="DM Sans"/>
                <a:sym typeface="DM Sans"/>
              </a:rPr>
              <a:t>LEARN MORE</a:t>
            </a:r>
            <a:r>
              <a:rPr b="0" i="0" lang="en" sz="1000" u="none" cap="none" strike="noStrike">
                <a:solidFill>
                  <a:srgbClr val="21D099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b="0" i="0" lang="en" sz="1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lfenergy.org/projects/projectname</a:t>
            </a:r>
            <a:endParaRPr/>
          </a:p>
        </p:txBody>
      </p:sp>
      <p:sp>
        <p:nvSpPr>
          <p:cNvPr id="315" name="Google Shape;31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/>
          <p:nvPr/>
        </p:nvSpPr>
        <p:spPr>
          <a:xfrm>
            <a:off x="320040" y="237744"/>
            <a:ext cx="1234500" cy="567000"/>
          </a:xfrm>
          <a:prstGeom prst="roundRect">
            <a:avLst>
              <a:gd fmla="val 8000" name="adj"/>
            </a:avLst>
          </a:prstGeom>
          <a:noFill/>
          <a:ln cap="flat" cmpd="sng" w="9525">
            <a:solidFill>
              <a:srgbClr val="A8B2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PROJECT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21" name="Google Shape;321;p47"/>
          <p:cNvSpPr txBox="1"/>
          <p:nvPr>
            <p:ph type="title"/>
          </p:nvPr>
        </p:nvSpPr>
        <p:spPr>
          <a:xfrm>
            <a:off x="1737360" y="237744"/>
            <a:ext cx="708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1E253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One-line value statement: what it does, for whom</a:t>
            </a:r>
            <a:endParaRPr/>
          </a:p>
        </p:txBody>
      </p:sp>
      <p:sp>
        <p:nvSpPr>
          <p:cNvPr id="322" name="Google Shape;322;p47"/>
          <p:cNvSpPr txBox="1"/>
          <p:nvPr/>
        </p:nvSpPr>
        <p:spPr>
          <a:xfrm>
            <a:off x="320040" y="1078992"/>
            <a:ext cx="452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endParaRPr/>
          </a:p>
        </p:txBody>
      </p:sp>
      <p:sp>
        <p:nvSpPr>
          <p:cNvPr id="323" name="Google Shape;323;p47"/>
          <p:cNvSpPr txBox="1"/>
          <p:nvPr/>
        </p:nvSpPr>
        <p:spPr>
          <a:xfrm>
            <a:off x="320040" y="1316736"/>
            <a:ext cx="4526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Two to three sentences that expand on the tagline: the problem the project solves, how it works at a high level, and who it is built for. Keep to about 300 characters.</a:t>
            </a:r>
            <a:endParaRPr/>
          </a:p>
        </p:txBody>
      </p:sp>
      <p:sp>
        <p:nvSpPr>
          <p:cNvPr id="324" name="Google Shape;324;p47"/>
          <p:cNvSpPr txBox="1"/>
          <p:nvPr/>
        </p:nvSpPr>
        <p:spPr>
          <a:xfrm>
            <a:off x="320040" y="2103120"/>
            <a:ext cx="452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KEY CAPABILITIES &amp; USE CASES</a:t>
            </a:r>
            <a:endParaRPr/>
          </a:p>
        </p:txBody>
      </p:sp>
      <p:sp>
        <p:nvSpPr>
          <p:cNvPr id="325" name="Google Shape;325;p47"/>
          <p:cNvSpPr txBox="1"/>
          <p:nvPr/>
        </p:nvSpPr>
        <p:spPr>
          <a:xfrm>
            <a:off x="320040" y="2340864"/>
            <a:ext cx="4526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Capability: a concrete feature, stated as an outcome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Capability: interoperability, standards, or integrations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Capability: deployment model, scale, or performance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Use case: who uses it, and for what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Use case: a second audience or grid domain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z="10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Use case: a real deployment is most persuasive</a:t>
            </a:r>
            <a:endParaRPr/>
          </a:p>
        </p:txBody>
      </p:sp>
      <p:sp>
        <p:nvSpPr>
          <p:cNvPr id="326" name="Google Shape;326;p47"/>
          <p:cNvSpPr txBox="1"/>
          <p:nvPr/>
        </p:nvSpPr>
        <p:spPr>
          <a:xfrm>
            <a:off x="5166360" y="1078992"/>
            <a:ext cx="365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2530"/>
                </a:solidFill>
                <a:latin typeface="DM Sans"/>
                <a:ea typeface="DM Sans"/>
                <a:cs typeface="DM Sans"/>
                <a:sym typeface="DM Sans"/>
              </a:rPr>
              <a:t>KEY ADOPTERS &amp; CONTRIBUTORS</a:t>
            </a:r>
            <a:endParaRPr/>
          </a:p>
        </p:txBody>
      </p:sp>
      <p:sp>
        <p:nvSpPr>
          <p:cNvPr id="327" name="Google Shape;327;p47"/>
          <p:cNvSpPr/>
          <p:nvPr/>
        </p:nvSpPr>
        <p:spPr>
          <a:xfrm>
            <a:off x="5166360" y="1325880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28" name="Google Shape;328;p47"/>
          <p:cNvSpPr/>
          <p:nvPr/>
        </p:nvSpPr>
        <p:spPr>
          <a:xfrm>
            <a:off x="6416040" y="1325880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29" name="Google Shape;329;p47"/>
          <p:cNvSpPr/>
          <p:nvPr/>
        </p:nvSpPr>
        <p:spPr>
          <a:xfrm>
            <a:off x="7665720" y="1325880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0" name="Google Shape;330;p47"/>
          <p:cNvSpPr/>
          <p:nvPr/>
        </p:nvSpPr>
        <p:spPr>
          <a:xfrm>
            <a:off x="5166360" y="2130552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1" name="Google Shape;331;p47"/>
          <p:cNvSpPr/>
          <p:nvPr/>
        </p:nvSpPr>
        <p:spPr>
          <a:xfrm>
            <a:off x="6416040" y="2130552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2" name="Google Shape;332;p47"/>
          <p:cNvSpPr/>
          <p:nvPr/>
        </p:nvSpPr>
        <p:spPr>
          <a:xfrm>
            <a:off x="7665720" y="2130552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3" name="Google Shape;333;p47"/>
          <p:cNvSpPr/>
          <p:nvPr/>
        </p:nvSpPr>
        <p:spPr>
          <a:xfrm>
            <a:off x="5166360" y="2935224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4" name="Google Shape;334;p47"/>
          <p:cNvSpPr/>
          <p:nvPr/>
        </p:nvSpPr>
        <p:spPr>
          <a:xfrm>
            <a:off x="6416040" y="2935224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5" name="Google Shape;335;p47"/>
          <p:cNvSpPr/>
          <p:nvPr/>
        </p:nvSpPr>
        <p:spPr>
          <a:xfrm>
            <a:off x="7665720" y="2935224"/>
            <a:ext cx="1158300" cy="713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5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8A96AA"/>
                </a:solidFill>
                <a:latin typeface="DM Sans"/>
                <a:ea typeface="DM Sans"/>
                <a:cs typeface="DM Sans"/>
                <a:sym typeface="DM Sans"/>
              </a:rPr>
              <a:t>Logo</a:t>
            </a:r>
            <a:endParaRPr/>
          </a:p>
        </p:txBody>
      </p:sp>
      <p:sp>
        <p:nvSpPr>
          <p:cNvPr id="336" name="Google Shape;336;p47"/>
          <p:cNvSpPr/>
          <p:nvPr/>
        </p:nvSpPr>
        <p:spPr>
          <a:xfrm>
            <a:off x="5166360" y="3749040"/>
            <a:ext cx="3657600" cy="384000"/>
          </a:xfrm>
          <a:prstGeom prst="roundRect">
            <a:avLst>
              <a:gd fmla="val 15000" name="adj"/>
            </a:avLst>
          </a:prstGeom>
          <a:solidFill>
            <a:srgbClr val="1E2530"/>
          </a:solidFill>
          <a:ln>
            <a:noFill/>
          </a:ln>
        </p:spPr>
        <p:txBody>
          <a:bodyPr anchorCtr="0" anchor="ctr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1D099"/>
                </a:solidFill>
                <a:latin typeface="DM Sans"/>
                <a:ea typeface="DM Sans"/>
                <a:cs typeface="DM Sans"/>
                <a:sym typeface="DM Sans"/>
              </a:rPr>
              <a:t>LEARN MORE</a:t>
            </a:r>
            <a:r>
              <a:rPr b="0" i="0" lang="en" sz="1000" u="none" cap="none" strike="noStrike">
                <a:solidFill>
                  <a:srgbClr val="21D099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b="0" i="0" lang="en" sz="1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lfenergy.org/projects/projectname</a:t>
            </a:r>
            <a:endParaRPr/>
          </a:p>
        </p:txBody>
      </p:sp>
      <p:sp>
        <p:nvSpPr>
          <p:cNvPr id="337" name="Google Shape;33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F Energy 2026">
  <a:themeElements>
    <a:clrScheme name="Simple Light">
      <a:dk1>
        <a:srgbClr val="1E2530"/>
      </a:dk1>
      <a:lt1>
        <a:srgbClr val="FFFFFF"/>
      </a:lt1>
      <a:dk2>
        <a:srgbClr val="595959"/>
      </a:dk2>
      <a:lt2>
        <a:srgbClr val="EEEEEE"/>
      </a:lt2>
      <a:accent1>
        <a:srgbClr val="21D099"/>
      </a:accent1>
      <a:accent2>
        <a:srgbClr val="1E2530"/>
      </a:accent2>
      <a:accent3>
        <a:srgbClr val="4E5F79"/>
      </a:accent3>
      <a:accent4>
        <a:srgbClr val="6C798D"/>
      </a:accent4>
      <a:accent5>
        <a:srgbClr val="8A96AA"/>
      </a:accent5>
      <a:accent6>
        <a:srgbClr val="A8B2C2"/>
      </a:accent6>
      <a:hlink>
        <a:srgbClr val="21D0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